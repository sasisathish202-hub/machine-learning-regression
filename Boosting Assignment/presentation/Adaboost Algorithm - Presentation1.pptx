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15B1C36-C43C-41CC-9EEB-1E89109D2CF6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E97DF00-8643-4A68-BA5B-A43F2F7EF7D7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27784" y="664701"/>
            <a:ext cx="403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err="1" smtClean="0"/>
              <a:t>Adaboost</a:t>
            </a:r>
            <a:r>
              <a:rPr lang="en-GB" sz="2400" b="1" dirty="0" smtClean="0"/>
              <a:t> </a:t>
            </a:r>
            <a:r>
              <a:rPr lang="en-GB" sz="3200" b="1" dirty="0" err="1" smtClean="0"/>
              <a:t>Algorithnm</a:t>
            </a:r>
            <a:endParaRPr lang="en-IN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1570826"/>
            <a:ext cx="36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Definition</a:t>
            </a:r>
            <a:r>
              <a:rPr lang="en-GB" dirty="0" smtClean="0"/>
              <a:t>:</a:t>
            </a:r>
            <a:endParaRPr lang="en-IN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043608" y="2348880"/>
            <a:ext cx="76328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en-GB" dirty="0" err="1"/>
              <a:t>Adaboost</a:t>
            </a:r>
            <a:r>
              <a:rPr lang="en-GB" dirty="0"/>
              <a:t> stands for adaptive boosting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/>
              <a:t> It is a supervised machine learning Algorithm mainly used for classification problems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 err="1"/>
              <a:t>Adaboost</a:t>
            </a:r>
            <a:r>
              <a:rPr lang="en-GB" dirty="0"/>
              <a:t> combines multiple weak learners to create a strong and accurate prediction model</a:t>
            </a:r>
            <a:r>
              <a:rPr lang="en-GB" dirty="0" smtClean="0"/>
              <a:t>.</a:t>
            </a:r>
          </a:p>
          <a:p>
            <a:pPr lvl="0"/>
            <a:r>
              <a:rPr lang="en-GB" dirty="0" smtClean="0"/>
              <a:t>   </a:t>
            </a: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/>
              <a:t>It improves performance by giving more importance to wrongly predicted data during  each iteration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/>
              <a:t>The final output is obtained by combining the results of all the learners.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24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402832" cy="418058"/>
          </a:xfrm>
        </p:spPr>
        <p:txBody>
          <a:bodyPr>
            <a:normAutofit fontScale="90000"/>
          </a:bodyPr>
          <a:lstStyle/>
          <a:p>
            <a:pPr algn="l"/>
            <a:r>
              <a:rPr lang="en-GB" sz="3600" dirty="0" smtClean="0"/>
              <a:t>Working</a:t>
            </a:r>
            <a:r>
              <a:rPr lang="en-GB" dirty="0" smtClean="0"/>
              <a:t> </a:t>
            </a:r>
            <a:r>
              <a:rPr lang="en-GB" sz="3600" dirty="0" smtClean="0"/>
              <a:t>Principle</a:t>
            </a:r>
            <a:r>
              <a:rPr lang="en-GB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340768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GB" sz="1800" dirty="0" smtClean="0"/>
              <a:t>The </a:t>
            </a:r>
            <a:r>
              <a:rPr lang="en-GB" sz="1800" dirty="0"/>
              <a:t>algorithm trains a weak learner using the training dataset</a:t>
            </a:r>
            <a:r>
              <a:rPr lang="en-GB" sz="1800" dirty="0" smtClean="0"/>
              <a:t>.</a:t>
            </a:r>
          </a:p>
          <a:p>
            <a:pPr lvl="0"/>
            <a:endParaRPr lang="en-IN" sz="1800" dirty="0"/>
          </a:p>
          <a:p>
            <a:pPr lvl="0"/>
            <a:r>
              <a:rPr lang="en-GB" sz="1800" dirty="0"/>
              <a:t>After the prediction, it identifies the wrongly classified data points</a:t>
            </a:r>
            <a:r>
              <a:rPr lang="en-GB" sz="1800" dirty="0" smtClean="0"/>
              <a:t>.</a:t>
            </a:r>
          </a:p>
          <a:p>
            <a:pPr lvl="0"/>
            <a:endParaRPr lang="en-IN" sz="1800" dirty="0"/>
          </a:p>
          <a:p>
            <a:pPr lvl="0"/>
            <a:r>
              <a:rPr lang="en-GB" sz="1800" dirty="0"/>
              <a:t>More weight is given to the incorrect prediction so the model focuses on them</a:t>
            </a:r>
            <a:r>
              <a:rPr lang="en-GB" sz="1800" dirty="0" smtClean="0"/>
              <a:t>.</a:t>
            </a:r>
          </a:p>
          <a:p>
            <a:pPr lvl="0"/>
            <a:endParaRPr lang="en-IN" sz="1800" dirty="0"/>
          </a:p>
          <a:p>
            <a:pPr lvl="0"/>
            <a:r>
              <a:rPr lang="en-GB" sz="1800" dirty="0"/>
              <a:t>Another weak learner is trained using the updated weights</a:t>
            </a:r>
            <a:r>
              <a:rPr lang="en-GB" sz="1800" dirty="0" smtClean="0"/>
              <a:t>.</a:t>
            </a:r>
          </a:p>
          <a:p>
            <a:pPr lvl="0"/>
            <a:endParaRPr lang="en-IN" sz="1800" dirty="0"/>
          </a:p>
          <a:p>
            <a:pPr lvl="0"/>
            <a:r>
              <a:rPr lang="en-GB" sz="1800" dirty="0"/>
              <a:t>This process repeats multiple times until better accuracy is achieved.</a:t>
            </a:r>
            <a:endParaRPr lang="en-IN" sz="1800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7856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76250"/>
            <a:ext cx="5688013" cy="490538"/>
          </a:xfrm>
        </p:spPr>
        <p:txBody>
          <a:bodyPr>
            <a:noAutofit/>
          </a:bodyPr>
          <a:lstStyle/>
          <a:p>
            <a:r>
              <a:rPr lang="en-GB" sz="3200" dirty="0" err="1"/>
              <a:t>Adaboost</a:t>
            </a:r>
            <a:r>
              <a:rPr lang="en-GB" sz="3200" dirty="0"/>
              <a:t> Workflow Diagram</a:t>
            </a:r>
            <a:r>
              <a:rPr lang="en-GB" sz="3200" dirty="0" smtClean="0"/>
              <a:t>:</a:t>
            </a:r>
            <a:endParaRPr lang="en-IN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460483" y="14596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Input data</a:t>
            </a:r>
            <a:endParaRPr lang="en-IN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562061" y="1894963"/>
            <a:ext cx="0" cy="3099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70305" y="2204864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Weak learner 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3827911" y="2996952"/>
            <a:ext cx="1637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smtClean="0"/>
              <a:t>Update </a:t>
            </a:r>
            <a:r>
              <a:rPr lang="en-GB" dirty="0" err="1" smtClean="0"/>
              <a:t>weightt</a:t>
            </a:r>
            <a:endParaRPr lang="en-IN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562061" y="2735204"/>
            <a:ext cx="0" cy="2617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66669" y="38610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Weak learner 2</a:t>
            </a:r>
            <a:endParaRPr lang="en-IN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4557336" y="3504662"/>
            <a:ext cx="0" cy="3563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09106" y="4797152"/>
            <a:ext cx="2007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Strong model</a:t>
            </a:r>
            <a:endParaRPr lang="en-IN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4572000" y="4365104"/>
            <a:ext cx="0" cy="3363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2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536" y="1052736"/>
            <a:ext cx="3034680" cy="576064"/>
          </a:xfrm>
        </p:spPr>
        <p:txBody>
          <a:bodyPr>
            <a:noAutofit/>
          </a:bodyPr>
          <a:lstStyle/>
          <a:p>
            <a:pPr algn="l"/>
            <a:r>
              <a:rPr lang="en-GB" sz="3200" dirty="0" smtClean="0"/>
              <a:t>Advantages:</a:t>
            </a:r>
            <a:endParaRPr lang="en-IN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2132856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 err="1" smtClean="0"/>
              <a:t>Adaboost</a:t>
            </a:r>
            <a:r>
              <a:rPr lang="en-GB" dirty="0" smtClean="0"/>
              <a:t> </a:t>
            </a:r>
            <a:r>
              <a:rPr lang="en-GB" dirty="0"/>
              <a:t>improves the overall prediction accuracy of the model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/>
              <a:t>It combines multiple weak learners to create a strong learning algorithm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/>
              <a:t>The algorithm focuses more on wrongly predicted data and reduces errors effectively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lvl="0" indent="-285750">
              <a:buFont typeface="Arial" pitchFamily="34" charset="0"/>
              <a:buChar char="•"/>
            </a:pPr>
            <a:r>
              <a:rPr lang="en-GB" dirty="0" err="1"/>
              <a:t>Adaboost</a:t>
            </a:r>
            <a:r>
              <a:rPr lang="en-GB" dirty="0"/>
              <a:t> is simple to implement and works well for </a:t>
            </a:r>
            <a:r>
              <a:rPr lang="en-GB" dirty="0" smtClean="0"/>
              <a:t>classification and regression </a:t>
            </a:r>
            <a:r>
              <a:rPr lang="en-GB" dirty="0"/>
              <a:t>problems</a:t>
            </a:r>
            <a:r>
              <a:rPr lang="en-GB" dirty="0" smtClean="0"/>
              <a:t>.</a:t>
            </a:r>
          </a:p>
          <a:p>
            <a:pPr marL="285750" lvl="0" indent="-285750">
              <a:buFont typeface="Arial" pitchFamily="34" charset="0"/>
              <a:buChar char="•"/>
            </a:pPr>
            <a:endParaRPr lang="en-IN" dirty="0"/>
          </a:p>
          <a:p>
            <a:pPr marL="285750" indent="-285750">
              <a:buFont typeface="Arial" pitchFamily="34" charset="0"/>
              <a:buChar char="•"/>
            </a:pPr>
            <a:r>
              <a:rPr lang="en-GB" dirty="0"/>
              <a:t>It helps in reducing both bias and variance in machine learning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254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482952" cy="778098"/>
          </a:xfrm>
        </p:spPr>
        <p:txBody>
          <a:bodyPr>
            <a:normAutofit/>
          </a:bodyPr>
          <a:lstStyle/>
          <a:p>
            <a:pPr algn="l"/>
            <a:r>
              <a:rPr lang="en-GB" sz="3200" dirty="0"/>
              <a:t>Disadvantages</a:t>
            </a:r>
            <a:r>
              <a:rPr lang="en-GB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sz="1900" dirty="0" err="1"/>
              <a:t>Adaboost</a:t>
            </a:r>
            <a:r>
              <a:rPr lang="en-GB" sz="1900" dirty="0"/>
              <a:t> is sensitive to noisy data and outliers</a:t>
            </a:r>
            <a:r>
              <a:rPr lang="en-GB" sz="1900" dirty="0" smtClean="0"/>
              <a:t>.</a:t>
            </a:r>
          </a:p>
          <a:p>
            <a:pPr lvl="0"/>
            <a:endParaRPr lang="en-IN" sz="1900" dirty="0"/>
          </a:p>
          <a:p>
            <a:pPr lvl="0"/>
            <a:r>
              <a:rPr lang="en-GB" sz="1900" dirty="0"/>
              <a:t>Incorrect or random data can reduce the performance of the model.</a:t>
            </a:r>
            <a:endParaRPr lang="en-IN" sz="1900" dirty="0"/>
          </a:p>
          <a:p>
            <a:pPr lvl="0"/>
            <a:endParaRPr lang="en-GB" sz="1900" dirty="0" smtClean="0"/>
          </a:p>
          <a:p>
            <a:pPr lvl="0"/>
            <a:r>
              <a:rPr lang="en-GB" sz="1900" dirty="0" smtClean="0"/>
              <a:t>The </a:t>
            </a:r>
            <a:r>
              <a:rPr lang="en-GB" sz="1900" dirty="0"/>
              <a:t>training process may take more time because multiple learners are trained repeatedly.</a:t>
            </a:r>
            <a:endParaRPr lang="en-IN" sz="1900" dirty="0"/>
          </a:p>
          <a:p>
            <a:pPr lvl="0"/>
            <a:endParaRPr lang="en-GB" sz="1900" dirty="0" smtClean="0"/>
          </a:p>
          <a:p>
            <a:pPr lvl="0"/>
            <a:r>
              <a:rPr lang="en-GB" sz="1900" dirty="0" err="1" smtClean="0"/>
              <a:t>Adaboost</a:t>
            </a:r>
            <a:r>
              <a:rPr lang="en-GB" sz="1900" dirty="0" smtClean="0"/>
              <a:t> </a:t>
            </a:r>
            <a:r>
              <a:rPr lang="en-GB" sz="1900" dirty="0"/>
              <a:t>may lead to </a:t>
            </a:r>
            <a:r>
              <a:rPr lang="en-GB" sz="1900" dirty="0" err="1"/>
              <a:t>overfitting</a:t>
            </a:r>
            <a:r>
              <a:rPr lang="en-GB" sz="1900" dirty="0"/>
              <a:t> if the dataset is not properly prepared.</a:t>
            </a:r>
            <a:endParaRPr lang="en-IN" sz="1900" dirty="0"/>
          </a:p>
          <a:p>
            <a:pPr lvl="0"/>
            <a:endParaRPr lang="en-GB" sz="1900" dirty="0" smtClean="0"/>
          </a:p>
          <a:p>
            <a:pPr lvl="0"/>
            <a:r>
              <a:rPr lang="en-GB" sz="1900" dirty="0" smtClean="0"/>
              <a:t>Performance </a:t>
            </a:r>
            <a:r>
              <a:rPr lang="en-GB" sz="1900" dirty="0"/>
              <a:t>of the algorithm depends on the quality of weak learner used.</a:t>
            </a:r>
            <a:endParaRPr lang="en-IN" sz="1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8638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3200" dirty="0"/>
              <a:t>Application</a:t>
            </a:r>
            <a:r>
              <a:rPr lang="en-GB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GB" dirty="0" err="1"/>
              <a:t>Adaboost</a:t>
            </a:r>
            <a:r>
              <a:rPr lang="en-GB" dirty="0"/>
              <a:t> widely used in face detection and facial recognition systems</a:t>
            </a:r>
            <a:r>
              <a:rPr lang="en-GB" dirty="0" smtClean="0"/>
              <a:t>.</a:t>
            </a:r>
          </a:p>
          <a:p>
            <a:pPr lvl="0"/>
            <a:endParaRPr lang="en-IN" dirty="0"/>
          </a:p>
          <a:p>
            <a:pPr lvl="0"/>
            <a:r>
              <a:rPr lang="en-GB" dirty="0"/>
              <a:t>It is used in email services for spam email filtering  and classification</a:t>
            </a:r>
            <a:r>
              <a:rPr lang="en-GB" dirty="0" smtClean="0"/>
              <a:t>.</a:t>
            </a:r>
          </a:p>
          <a:p>
            <a:pPr lvl="0"/>
            <a:endParaRPr lang="en-IN" dirty="0"/>
          </a:p>
          <a:p>
            <a:pPr lvl="0"/>
            <a:r>
              <a:rPr lang="en-GB" dirty="0"/>
              <a:t>In the banking sector, </a:t>
            </a:r>
            <a:r>
              <a:rPr lang="en-GB" dirty="0" err="1"/>
              <a:t>adaboost</a:t>
            </a:r>
            <a:r>
              <a:rPr lang="en-GB" dirty="0"/>
              <a:t> helps in fraud detection and risk analysis.</a:t>
            </a:r>
            <a:endParaRPr lang="en-IN" dirty="0"/>
          </a:p>
          <a:p>
            <a:pPr lvl="0"/>
            <a:endParaRPr lang="en-GB" dirty="0" smtClean="0"/>
          </a:p>
          <a:p>
            <a:pPr lvl="0"/>
            <a:r>
              <a:rPr lang="en-GB" dirty="0" smtClean="0"/>
              <a:t>Hospitals </a:t>
            </a:r>
            <a:r>
              <a:rPr lang="en-GB" dirty="0"/>
              <a:t>and healthcare systems use </a:t>
            </a:r>
            <a:r>
              <a:rPr lang="en-GB" dirty="0" err="1"/>
              <a:t>adaboost</a:t>
            </a:r>
            <a:r>
              <a:rPr lang="en-GB" dirty="0"/>
              <a:t> for medical diagnosis and </a:t>
            </a:r>
            <a:r>
              <a:rPr lang="en-GB" dirty="0" smtClean="0"/>
              <a:t>disease </a:t>
            </a:r>
            <a:r>
              <a:rPr lang="en-GB" dirty="0"/>
              <a:t>prediction.</a:t>
            </a:r>
            <a:endParaRPr lang="en-IN" dirty="0"/>
          </a:p>
          <a:p>
            <a:pPr lvl="0"/>
            <a:endParaRPr lang="en-GB" dirty="0" smtClean="0"/>
          </a:p>
          <a:p>
            <a:pPr lvl="0"/>
            <a:r>
              <a:rPr lang="en-GB" dirty="0" smtClean="0"/>
              <a:t>It </a:t>
            </a:r>
            <a:r>
              <a:rPr lang="en-GB" dirty="0"/>
              <a:t>is used in image recognition and image classification application.</a:t>
            </a:r>
            <a:endParaRPr lang="en-IN" dirty="0"/>
          </a:p>
          <a:p>
            <a:pPr lvl="0"/>
            <a:endParaRPr lang="en-GB" dirty="0" smtClean="0"/>
          </a:p>
          <a:p>
            <a:pPr lvl="0"/>
            <a:r>
              <a:rPr lang="en-GB" dirty="0" smtClean="0"/>
              <a:t>E-commerce </a:t>
            </a:r>
            <a:r>
              <a:rPr lang="en-GB" dirty="0"/>
              <a:t>and telecom companies use </a:t>
            </a:r>
            <a:r>
              <a:rPr lang="en-GB" dirty="0" err="1"/>
              <a:t>adaboost</a:t>
            </a:r>
            <a:r>
              <a:rPr lang="en-GB" dirty="0"/>
              <a:t> for customer churn prediction.</a:t>
            </a:r>
            <a:endParaRPr lang="en-IN" dirty="0"/>
          </a:p>
          <a:p>
            <a:pPr lvl="0"/>
            <a:endParaRPr lang="en-GB" dirty="0" smtClean="0"/>
          </a:p>
          <a:p>
            <a:pPr lvl="0"/>
            <a:r>
              <a:rPr lang="en-GB" dirty="0" err="1" smtClean="0"/>
              <a:t>Cybersecurity</a:t>
            </a:r>
            <a:r>
              <a:rPr lang="en-GB" dirty="0" smtClean="0"/>
              <a:t> </a:t>
            </a:r>
            <a:r>
              <a:rPr lang="en-GB" dirty="0"/>
              <a:t>systems use </a:t>
            </a:r>
            <a:r>
              <a:rPr lang="en-GB" dirty="0" err="1"/>
              <a:t>adaboost</a:t>
            </a:r>
            <a:r>
              <a:rPr lang="en-GB" dirty="0"/>
              <a:t> to detect threats and suspicious activities.</a:t>
            </a:r>
            <a:endParaRPr lang="en-IN" dirty="0"/>
          </a:p>
          <a:p>
            <a:pPr lvl="0"/>
            <a:endParaRPr lang="en-GB" dirty="0" smtClean="0"/>
          </a:p>
          <a:p>
            <a:pPr lvl="0"/>
            <a:r>
              <a:rPr lang="en-GB" dirty="0" smtClean="0"/>
              <a:t>Financial </a:t>
            </a:r>
            <a:r>
              <a:rPr lang="en-GB" dirty="0"/>
              <a:t>organization use </a:t>
            </a:r>
            <a:r>
              <a:rPr lang="en-GB" dirty="0" err="1"/>
              <a:t>adaboost</a:t>
            </a:r>
            <a:r>
              <a:rPr lang="en-GB" dirty="0"/>
              <a:t> in credit scoring and loan approval systems.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3296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394</TotalTime>
  <Words>370</Words>
  <Application>Microsoft Office PowerPoint</Application>
  <PresentationFormat>On-screen Show (4:3)</PresentationFormat>
  <Paragraphs>66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Apex</vt:lpstr>
      <vt:lpstr>PowerPoint Presentation</vt:lpstr>
      <vt:lpstr>Working Principle:</vt:lpstr>
      <vt:lpstr>Adaboost Workflow Diagram:</vt:lpstr>
      <vt:lpstr>Advantages:</vt:lpstr>
      <vt:lpstr>Disadvantages:</vt:lpstr>
      <vt:lpstr>Application: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9</cp:revision>
  <dcterms:created xsi:type="dcterms:W3CDTF">2026-05-13T00:23:27Z</dcterms:created>
  <dcterms:modified xsi:type="dcterms:W3CDTF">2026-05-13T06:57:56Z</dcterms:modified>
</cp:coreProperties>
</file>